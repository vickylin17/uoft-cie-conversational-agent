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571"/>
  </p:normalViewPr>
  <p:slideViewPr>
    <p:cSldViewPr snapToGrid="0" snapToObjects="1">
      <p:cViewPr varScale="1">
        <p:scale>
          <a:sx n="153" d="100"/>
          <a:sy n="15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95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worked well: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CA" dirty="0"/>
              <a:t>Hybrid retrieval (lexical + semantic) beats either alone — essential for CIE-specific terms like UHIP, PGWP, and </a:t>
            </a:r>
            <a:r>
              <a:rPr lang="en-CA" dirty="0" err="1"/>
              <a:t>eTA</a:t>
            </a:r>
            <a:r>
              <a:rPr lang="en-CA" dirty="0"/>
              <a:t>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CA" dirty="0"/>
              <a:t>Three-tier fallback (LLM → extractive → "I don't know") prevents hallucination without sacrificing coverage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CA" dirty="0"/>
              <a:t>Template-based checklists outperform LLM generation for structured, predictable outputs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CA" dirty="0"/>
              <a:t>Session state machine cleanly handles multi-turn conversations without prompt engineering hacks 100% intent &amp; action accuracy validates the heuristic + LLM dual-classifier approach</a:t>
            </a:r>
          </a:p>
          <a:p>
            <a:pPr marL="0" indent="0">
              <a:lnSpc>
                <a:spcPct val="138000"/>
              </a:lnSpc>
              <a:buNone/>
            </a:pPr>
            <a:endParaRPr lang="en-CA" dirty="0"/>
          </a:p>
          <a:p>
            <a:pPr marL="0" indent="0">
              <a:lnSpc>
                <a:spcPct val="138000"/>
              </a:lnSpc>
              <a:buNone/>
            </a:pPr>
            <a:r>
              <a:rPr lang="en-CA" dirty="0"/>
              <a:t>Challenges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US" dirty="0"/>
              <a:t>Slot-filling is fragile in 6-parameter flows — early free-text replies can corrupt later fields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US" dirty="0"/>
              <a:t>Faithfulness metric is misaligned: memory-recall answers don't cite RAG sources, causing false negatives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US" dirty="0"/>
              <a:t>Out-of-scope guardrail uses a hardcoded keyword list — novel off-topic requests will slip through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US" dirty="0"/>
              <a:t>Knowledge freshness depends on manually re-running the scraper pipeline </a:t>
            </a:r>
          </a:p>
          <a:p>
            <a:pPr marL="0" indent="0">
              <a:lnSpc>
                <a:spcPct val="138000"/>
              </a:lnSpc>
              <a:buNone/>
            </a:pPr>
            <a:r>
              <a:rPr lang="en-US" dirty="0"/>
              <a:t>No user auth — session state is local and doesn't persist across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583680" y="-1005840"/>
            <a:ext cx="3474720" cy="3474720"/>
          </a:xfrm>
          <a:prstGeom prst="ellipse">
            <a:avLst/>
          </a:prstGeom>
          <a:solidFill>
            <a:srgbClr val="1F3D5C">
              <a:alpha val="60000"/>
            </a:srgbClr>
          </a:solidFill>
          <a:ln w="12700">
            <a:solidFill>
              <a:srgbClr val="1F3D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0" y="-27432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47749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Resource Hub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03167" y="2982191"/>
            <a:ext cx="8641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assistant for international student support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163291" y="4454236"/>
            <a:ext cx="4797830" cy="57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· RSM 8430 Final Project</a:t>
            </a:r>
          </a:p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Dion, Manav Deep Singh Lamba, Zimeng Li, Yichen Lin, Shuya Yang, Jiefu Zhou 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CBDF34-0B1F-6F13-9BB0-2B08B322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1" y="148937"/>
            <a:ext cx="3108821" cy="1036274"/>
          </a:xfrm>
          <a:prstGeom prst="rect">
            <a:avLst/>
          </a:prstGeom>
        </p:spPr>
      </p:pic>
      <p:pic>
        <p:nvPicPr>
          <p:cNvPr id="2056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ADA1C41B-ED21-671B-27D8-E2591D078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5" r="33645" b="34307"/>
          <a:stretch>
            <a:fillRect/>
          </a:stretch>
        </p:blipFill>
        <p:spPr bwMode="auto">
          <a:xfrm>
            <a:off x="195472" y="212414"/>
            <a:ext cx="562250" cy="83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604D8BB5-625F-8568-8A60-A9A9C084C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3"/>
          <a:stretch>
            <a:fillRect/>
          </a:stretch>
        </p:blipFill>
        <p:spPr bwMode="auto">
          <a:xfrm>
            <a:off x="709231" y="453045"/>
            <a:ext cx="1692491" cy="43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690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3784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60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8620" y="1764792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AutoNum type="circleNumDbPlain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serves thousands of international students</a:t>
            </a:r>
          </a:p>
          <a:p>
            <a:pPr>
              <a:lnSpc>
                <a:spcPct val="140000"/>
              </a:lnSpc>
            </a:pPr>
            <a:endParaRPr lang="en-US" sz="600" dirty="0"/>
          </a:p>
          <a:p>
            <a:pPr marL="342900" indent="-342900">
              <a:lnSpc>
                <a:spcPct val="140000"/>
              </a:lnSpc>
              <a:buAutoNum type="circleNumDbPlain" startAt="2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 across 80+ web pages</a:t>
            </a:r>
          </a:p>
          <a:p>
            <a:pPr>
              <a:lnSpc>
                <a:spcPct val="140000"/>
              </a:lnSpc>
            </a:pPr>
            <a:endParaRPr lang="en-US" sz="600" dirty="0"/>
          </a:p>
          <a:p>
            <a:pPr marL="342900" indent="-342900">
              <a:lnSpc>
                <a:spcPct val="140000"/>
              </a:lnSpc>
              <a:buAutoNum type="circleNumDbPlain" startAt="3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personalized, multi-step guidance</a:t>
            </a:r>
          </a:p>
          <a:p>
            <a:pPr>
              <a:lnSpc>
                <a:spcPct val="140000"/>
              </a:lnSpc>
            </a:pPr>
            <a:endParaRPr lang="en-US" sz="6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40000"/>
              </a:lnSpc>
              <a:buAutoNum type="circleNumDbPlain" startAt="4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information about visas or UHIP can have serious consequences</a:t>
            </a:r>
          </a:p>
          <a:p>
            <a:pPr>
              <a:lnSpc>
                <a:spcPct val="140000"/>
              </a:lnSpc>
            </a:pP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069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960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490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14900" y="19933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Resource &amp; Information Hub (internationalexperience.utoronto.ca)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14900" y="2578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18541" y="2741683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Pre-Arrival, UHIP, Immigration, Finances, Events, Peer Support</a:t>
            </a:r>
            <a:b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22182" y="3089155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22182" y="32618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HTML</a:t>
            </a:r>
            <a:b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25823" y="362761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25823" y="37868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Handbook PDF + archived pages</a:t>
            </a:r>
            <a:b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CIE?  High-stakes · Structured · Multi-page synthesis required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148812-50B9-EE74-0DE0-9572347CB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815" y="27546"/>
            <a:ext cx="1737131" cy="579044"/>
          </a:xfrm>
          <a:prstGeom prst="rect">
            <a:avLst/>
          </a:prstGeom>
        </p:spPr>
      </p:pic>
      <p:pic>
        <p:nvPicPr>
          <p:cNvPr id="23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FC194A62-A878-FF7C-0E39-59BB7A5CB3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5" r="33645" b="34307"/>
          <a:stretch>
            <a:fillRect/>
          </a:stretch>
        </p:blipFill>
        <p:spPr bwMode="auto">
          <a:xfrm>
            <a:off x="6030300" y="76802"/>
            <a:ext cx="314171" cy="46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4E4349DA-7373-0E3C-4CB4-DB31B7DEC2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3"/>
          <a:stretch>
            <a:fillRect/>
          </a:stretch>
        </p:blipFill>
        <p:spPr bwMode="auto">
          <a:xfrm>
            <a:off x="6344471" y="199063"/>
            <a:ext cx="945721" cy="24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5915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73736" y="-502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11375" y="1293876"/>
            <a:ext cx="1572768" cy="138988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60015" y="13853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3" y="14493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1103" y="189738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5967" y="2180844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CIE pages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aware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1793287" y="198882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948735" y="1293876"/>
            <a:ext cx="1572768" cy="138988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2497375" y="13853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383" y="14493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8463" y="189738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113327" y="2180844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Chunk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chr / 120 overlap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530647" y="198882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2"/>
          <p:cNvSpPr/>
          <p:nvPr/>
        </p:nvSpPr>
        <p:spPr>
          <a:xfrm>
            <a:off x="3686095" y="1293876"/>
            <a:ext cx="1572768" cy="138988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234735" y="13853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743" y="14493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5823" y="189738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850687" y="2180844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-3-small / MiniLM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268007" y="198882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7"/>
          <p:cNvSpPr/>
          <p:nvPr/>
        </p:nvSpPr>
        <p:spPr>
          <a:xfrm>
            <a:off x="5423455" y="1293876"/>
            <a:ext cx="1572768" cy="138988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8"/>
          <p:cNvSpPr/>
          <p:nvPr/>
        </p:nvSpPr>
        <p:spPr>
          <a:xfrm>
            <a:off x="5972095" y="13853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6103" y="144932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3183" y="189738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588047" y="2180844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Semantic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hybrid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7" name="Shape 21"/>
          <p:cNvSpPr/>
          <p:nvPr/>
        </p:nvSpPr>
        <p:spPr>
          <a:xfrm>
            <a:off x="7005367" y="1988820"/>
            <a:ext cx="14630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2"/>
          <p:cNvSpPr/>
          <p:nvPr/>
        </p:nvSpPr>
        <p:spPr>
          <a:xfrm>
            <a:off x="7160815" y="1293876"/>
            <a:ext cx="1572768" cy="138988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7709455" y="1385316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3463" y="144932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70543" y="189738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325407" y="2180844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Qwen3-30B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3" name="Text 26"/>
          <p:cNvSpPr/>
          <p:nvPr/>
        </p:nvSpPr>
        <p:spPr>
          <a:xfrm>
            <a:off x="138466" y="107899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PIPELINE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219467" y="3112560"/>
            <a:ext cx="2084832" cy="1481328"/>
          </a:xfrm>
          <a:prstGeom prst="rect">
            <a:avLst/>
          </a:prstGeom>
          <a:solidFill>
            <a:srgbClr val="1F3D5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8"/>
          <p:cNvSpPr/>
          <p:nvPr/>
        </p:nvSpPr>
        <p:spPr>
          <a:xfrm>
            <a:off x="228611" y="3126115"/>
            <a:ext cx="2084832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321103" y="30871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219467" y="3497224"/>
            <a:ext cx="1773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detect 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filter</a:t>
            </a: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 disclaimer</a:t>
            </a: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8" name="Shape 31"/>
          <p:cNvSpPr/>
          <p:nvPr/>
        </p:nvSpPr>
        <p:spPr>
          <a:xfrm>
            <a:off x="2351071" y="3119237"/>
            <a:ext cx="2084832" cy="1481328"/>
          </a:xfrm>
          <a:prstGeom prst="rect">
            <a:avLst/>
          </a:prstGeom>
          <a:solidFill>
            <a:srgbClr val="1F3D5C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2360215" y="3119966"/>
            <a:ext cx="2084832" cy="365760"/>
          </a:xfrm>
          <a:prstGeom prst="rect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3"/>
          <p:cNvSpPr/>
          <p:nvPr/>
        </p:nvSpPr>
        <p:spPr>
          <a:xfrm>
            <a:off x="2457319" y="308322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2367013" y="3505451"/>
            <a:ext cx="212375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→ Qwen3 JSON</a:t>
            </a: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Action / OOS</a:t>
            </a: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 parse failure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2" name="Shape 35"/>
          <p:cNvSpPr/>
          <p:nvPr/>
        </p:nvSpPr>
        <p:spPr>
          <a:xfrm>
            <a:off x="4518199" y="3119237"/>
            <a:ext cx="2084832" cy="1481328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6"/>
          <p:cNvSpPr/>
          <p:nvPr/>
        </p:nvSpPr>
        <p:spPr>
          <a:xfrm>
            <a:off x="4527343" y="3119884"/>
            <a:ext cx="2084832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4" name="Text 37"/>
          <p:cNvSpPr/>
          <p:nvPr/>
        </p:nvSpPr>
        <p:spPr>
          <a:xfrm>
            <a:off x="4616113" y="3085777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538833" y="3495404"/>
            <a:ext cx="1956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generated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sentence fallback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6" name="Shape 39"/>
          <p:cNvSpPr/>
          <p:nvPr/>
        </p:nvSpPr>
        <p:spPr>
          <a:xfrm>
            <a:off x="6692125" y="3112560"/>
            <a:ext cx="2084832" cy="1481328"/>
          </a:xfrm>
          <a:prstGeom prst="rect">
            <a:avLst/>
          </a:prstGeom>
          <a:solidFill>
            <a:srgbClr val="1F3D5C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0"/>
          <p:cNvSpPr/>
          <p:nvPr/>
        </p:nvSpPr>
        <p:spPr>
          <a:xfrm>
            <a:off x="6700169" y="3126115"/>
            <a:ext cx="2084832" cy="36576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1"/>
          <p:cNvSpPr/>
          <p:nvPr/>
        </p:nvSpPr>
        <p:spPr>
          <a:xfrm>
            <a:off x="6774421" y="3090025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Tools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6740191" y="3576658"/>
            <a:ext cx="1938528" cy="717967"/>
          </a:xfrm>
          <a:prstGeom prst="rect">
            <a:avLst/>
          </a:prstGeom>
          <a:noFill/>
          <a:ln/>
        </p:spPr>
        <p:txBody>
          <a:bodyPr wrap="square" numCol="2" rtlCol="0" anchor="ctr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Advising 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Slot-filling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0" name="Text 43"/>
          <p:cNvSpPr/>
          <p:nvPr/>
        </p:nvSpPr>
        <p:spPr>
          <a:xfrm>
            <a:off x="138466" y="2863933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AGENT COMPONENTS</a:t>
            </a:r>
            <a:endParaRPr lang="en-US" sz="11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FFDDF47-CEFF-71EE-1C55-04C5C2A499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2815" y="27546"/>
            <a:ext cx="1737131" cy="579044"/>
          </a:xfrm>
          <a:prstGeom prst="rect">
            <a:avLst/>
          </a:prstGeom>
        </p:spPr>
      </p:pic>
      <p:pic>
        <p:nvPicPr>
          <p:cNvPr id="60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A397ECEF-F39D-49DC-0691-DD8DCF0688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5" r="33645" b="34307"/>
          <a:stretch>
            <a:fillRect/>
          </a:stretch>
        </p:blipFill>
        <p:spPr bwMode="auto">
          <a:xfrm>
            <a:off x="6030300" y="76802"/>
            <a:ext cx="314171" cy="46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81C34530-1BF8-A26B-6567-52E025510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3"/>
          <a:stretch>
            <a:fillRect/>
          </a:stretch>
        </p:blipFill>
        <p:spPr bwMode="auto">
          <a:xfrm>
            <a:off x="6344471" y="199063"/>
            <a:ext cx="945721" cy="24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3145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62890" y="933475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15631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Pass Rate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85750" y="1985381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 cases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85423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788920" y="10058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Accuracy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042416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37760" y="1042416"/>
            <a:ext cx="376732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88920" y="14676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Success Rate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1504188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37760" y="1504188"/>
            <a:ext cx="376732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88920" y="19293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965960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37760" y="1965960"/>
            <a:ext cx="3767328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88920" y="239115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2427732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37760" y="2427732"/>
            <a:ext cx="3533754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88920" y="28529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2889504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37760" y="2889504"/>
            <a:ext cx="3533754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27"/>
          <p:cNvSpPr/>
          <p:nvPr/>
        </p:nvSpPr>
        <p:spPr>
          <a:xfrm>
            <a:off x="2788920" y="331470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351276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937760" y="3351276"/>
            <a:ext cx="3413199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88920" y="37764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813048"/>
            <a:ext cx="3767328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937759" y="3813048"/>
            <a:ext cx="3134417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4197096"/>
            <a:ext cx="85953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256532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58368" y="451256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① Slot-filling order confusion in multi-turn booking/advising flows (3 cases) </a:t>
            </a:r>
          </a:p>
          <a:p>
            <a:pPr marL="0" indent="0">
              <a:buNone/>
            </a:pPr>
            <a:r>
              <a:rPr lang="en-US" sz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② Faithfulness metric penalizes memory-recall answers that use session history instead of RAG sources (6 cases)</a:t>
            </a:r>
            <a:endParaRPr lang="en-US" sz="10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7FA31B-B121-DD69-6373-602A47C9D2B3}"/>
              </a:ext>
            </a:extLst>
          </p:cNvPr>
          <p:cNvSpPr txBox="1"/>
          <p:nvPr/>
        </p:nvSpPr>
        <p:spPr>
          <a:xfrm>
            <a:off x="658368" y="4224415"/>
            <a:ext cx="2991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Failure Modes</a:t>
            </a:r>
            <a:endParaRPr lang="en-CA" sz="16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81635" y="1007146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81635" y="1468918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81635" y="1930690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96540" y="2392462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6540" y="2854234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81635" y="3316006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96540" y="3777778"/>
            <a:ext cx="74285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05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0BA302A-D65D-F494-3294-43479EE03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815" y="27546"/>
            <a:ext cx="1737131" cy="579044"/>
          </a:xfrm>
          <a:prstGeom prst="rect">
            <a:avLst/>
          </a:prstGeom>
        </p:spPr>
      </p:pic>
      <p:pic>
        <p:nvPicPr>
          <p:cNvPr id="45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A632B4C3-1A50-D192-AFB8-ACB467A50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5" r="33645" b="34307"/>
          <a:stretch>
            <a:fillRect/>
          </a:stretch>
        </p:blipFill>
        <p:spPr bwMode="auto">
          <a:xfrm>
            <a:off x="6030300" y="76802"/>
            <a:ext cx="314171" cy="46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1E6402EB-0FE4-4A4C-734D-BEE6E4489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3"/>
          <a:stretch>
            <a:fillRect/>
          </a:stretch>
        </p:blipFill>
        <p:spPr bwMode="auto">
          <a:xfrm>
            <a:off x="6344471" y="199063"/>
            <a:ext cx="945721" cy="24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3066881"/>
          </a:xfrm>
          <a:prstGeom prst="rect">
            <a:avLst/>
          </a:prstGeom>
          <a:solidFill>
            <a:srgbClr val="1F3D5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784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914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0945" y="1371600"/>
            <a:ext cx="3988447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D94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chemeClr val="bg1"/>
                </a:solidFill>
              </a:rPr>
              <a:t>Hybrid search wins on specialist vocabulary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D94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bg1"/>
                </a:solidFill>
              </a:rPr>
              <a:t>Three-tier fallback - stable, honest, no hallucinations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D94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chemeClr val="bg1"/>
                </a:solidFill>
              </a:rPr>
              <a:t>Templates &gt; LLM for structured outputs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D94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chemeClr val="bg1"/>
                </a:solidFill>
              </a:rPr>
              <a:t>State machine &gt; prompt hacks for multi-turn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0D94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CA" sz="1300" dirty="0">
                <a:solidFill>
                  <a:schemeClr val="bg1"/>
                </a:solidFill>
              </a:rPr>
              <a:t>100% intent accuracy - dual-classifier validated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60520" cy="3066881"/>
          </a:xfrm>
          <a:prstGeom prst="rect">
            <a:avLst/>
          </a:prstGeom>
          <a:solidFill>
            <a:srgbClr val="1F3D5C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9784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8656" y="9144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Known Limits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8080" y="1371600"/>
            <a:ext cx="4107319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F59E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1300" dirty="0">
                <a:solidFill>
                  <a:schemeClr val="bg1"/>
                </a:solidFill>
              </a:rPr>
              <a:t>  </a:t>
            </a:r>
            <a:r>
              <a:rPr lang="en-CA" sz="1300" dirty="0">
                <a:solidFill>
                  <a:schemeClr val="bg1"/>
                </a:solidFill>
              </a:rPr>
              <a:t>Slot-filling order: fragile at 6 parameters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F59E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1300" dirty="0">
                <a:solidFill>
                  <a:schemeClr val="bg1"/>
                </a:solidFill>
              </a:rPr>
              <a:t>  Faithfulness metric penalizes memory-recall unfairly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F59E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1300" dirty="0">
                <a:solidFill>
                  <a:schemeClr val="bg1"/>
                </a:solidFill>
              </a:rPr>
              <a:t>  Hardcoded guardrails miss novel out-of-scope inputs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F59E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1300" dirty="0">
                <a:solidFill>
                  <a:schemeClr val="bg1"/>
                </a:solidFill>
              </a:rPr>
              <a:t>  Knowledge freshness requires manual re-scraping</a:t>
            </a:r>
          </a:p>
          <a:p>
            <a:pPr>
              <a:lnSpc>
                <a:spcPct val="200000"/>
              </a:lnSpc>
            </a:pPr>
            <a:r>
              <a:rPr lang="en-US" sz="1300" b="1" dirty="0">
                <a:solidFill>
                  <a:srgbClr val="F59E0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en-US" sz="1300" dirty="0">
                <a:solidFill>
                  <a:schemeClr val="bg1"/>
                </a:solidFill>
              </a:rPr>
              <a:t>  Session state is local and doesn't follow the user</a:t>
            </a:r>
          </a:p>
        </p:txBody>
      </p:sp>
      <p:sp>
        <p:nvSpPr>
          <p:cNvPr id="14" name="Shape 10"/>
          <p:cNvSpPr/>
          <p:nvPr/>
        </p:nvSpPr>
        <p:spPr>
          <a:xfrm>
            <a:off x="0" y="4224528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1"/>
          <p:cNvSpPr/>
          <p:nvPr/>
        </p:nvSpPr>
        <p:spPr>
          <a:xfrm>
            <a:off x="457200" y="422452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3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5CA0FF-9371-0020-7E3E-0C21C8928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815" y="27546"/>
            <a:ext cx="1737131" cy="579044"/>
          </a:xfrm>
          <a:prstGeom prst="rect">
            <a:avLst/>
          </a:prstGeom>
        </p:spPr>
      </p:pic>
      <p:pic>
        <p:nvPicPr>
          <p:cNvPr id="21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4874C90D-59FE-C563-8F26-B48924381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5" r="33645" b="34307"/>
          <a:stretch>
            <a:fillRect/>
          </a:stretch>
        </p:blipFill>
        <p:spPr bwMode="auto">
          <a:xfrm>
            <a:off x="6030300" y="76802"/>
            <a:ext cx="314171" cy="46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University of Toronto Logo (UOFT) - PNG Logo Vector Brand ...">
            <a:extLst>
              <a:ext uri="{FF2B5EF4-FFF2-40B4-BE49-F238E27FC236}">
                <a16:creationId xmlns:a16="http://schemas.microsoft.com/office/drawing/2014/main" id="{7D505469-8503-1259-697B-DDA1AA095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3"/>
          <a:stretch>
            <a:fillRect/>
          </a:stretch>
        </p:blipFill>
        <p:spPr bwMode="auto">
          <a:xfrm>
            <a:off x="6344471" y="199063"/>
            <a:ext cx="945721" cy="24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531</Words>
  <Application>Microsoft Macintosh PowerPoint</Application>
  <PresentationFormat>全屏显示(16:9)</PresentationFormat>
  <Paragraphs>122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UofT CIE Conversational Agent</dc:title>
  <dc:subject>PptxGenJS Presentation</dc:subject>
  <dc:creator>PptxGenJS</dc:creator>
  <cp:lastModifiedBy>Zimeng Li</cp:lastModifiedBy>
  <cp:revision>9</cp:revision>
  <dcterms:created xsi:type="dcterms:W3CDTF">2026-04-10T23:30:04Z</dcterms:created>
  <dcterms:modified xsi:type="dcterms:W3CDTF">2026-04-12T21:44:20Z</dcterms:modified>
</cp:coreProperties>
</file>